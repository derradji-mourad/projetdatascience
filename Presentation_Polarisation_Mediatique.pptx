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0"/>
            <a:ext cx="73152" cy="685800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  <a:latin typeface="Calibri"/>
              </a:rPr>
              <a:t>PROJET DATA SCIENCE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Prédiction de la</a:t>
            </a:r>
          </a:p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polarisation médiatique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703320"/>
            <a:ext cx="548640" cy="54864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2E8F0"/>
                </a:solidFill>
                <a:latin typeface="Calibri"/>
              </a:rPr>
              <a:t>Analyse de 3 000 articles de presse — détecter automatiquement</a:t>
            </a:r>
          </a:p>
          <a:p>
            <a:pPr algn="l"/>
            <a:r>
              <a:rPr sz="2000" b="0">
                <a:solidFill>
                  <a:srgbClr val="E2E8F0"/>
                </a:solidFill>
                <a:latin typeface="Calibri"/>
              </a:rPr>
              <a:t>l'orientation politique (Gauche · Centre · Droite) à partir du texte.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Auteur : Mourad   ·   Pipeline : Collecte → EDA → Modélisation →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  <a:latin typeface="Calibri"/>
              </a:rPr>
              <a:t>CONTEXTE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1295C"/>
                </a:solidFill>
                <a:latin typeface="Calibri"/>
              </a:rPr>
              <a:t>Pourquoi étudier la polarisation médiatique 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5486400" cy="4206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73152" cy="42062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1295C"/>
                </a:solidFill>
                <a:latin typeface="Calibri"/>
              </a:rPr>
              <a:t>Enjeu sociétal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512064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4A261"/>
                </a:solidFill>
                <a:latin typeface="Calibri"/>
              </a:rPr>
              <a:t>▸  </a:t>
            </a:r>
            <a:r>
              <a:rPr sz="1500">
                <a:solidFill>
                  <a:srgbClr val="4A5568"/>
                </a:solidFill>
                <a:latin typeface="Calibri"/>
              </a:rPr>
              <a:t>Multiplication des sources d'information en ligne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F4A261"/>
                </a:solidFill>
                <a:latin typeface="Calibri"/>
              </a:rPr>
              <a:t>▸  </a:t>
            </a:r>
            <a:r>
              <a:rPr sz="1500">
                <a:solidFill>
                  <a:srgbClr val="4A5568"/>
                </a:solidFill>
                <a:latin typeface="Calibri"/>
              </a:rPr>
              <a:t>Difficulté pour le lecteur d'identifier le biais éditorial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F4A261"/>
                </a:solidFill>
                <a:latin typeface="Calibri"/>
              </a:rPr>
              <a:t>▸  </a:t>
            </a:r>
            <a:r>
              <a:rPr sz="1500">
                <a:solidFill>
                  <a:srgbClr val="4A5568"/>
                </a:solidFill>
                <a:latin typeface="Calibri"/>
              </a:rPr>
              <a:t>Polarisation croissante du débat public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F4A261"/>
                </a:solidFill>
                <a:latin typeface="Calibri"/>
              </a:rPr>
              <a:t>▸  </a:t>
            </a:r>
            <a:r>
              <a:rPr sz="1500">
                <a:solidFill>
                  <a:srgbClr val="4A5568"/>
                </a:solidFill>
                <a:latin typeface="Calibri"/>
              </a:rPr>
              <a:t>Besoin d'outils d'analyse automatique et reproductible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828800"/>
            <a:ext cx="5486400" cy="4206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828800"/>
            <a:ext cx="73152" cy="42062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1295C"/>
                </a:solidFill>
                <a:latin typeface="Calibri"/>
              </a:rPr>
              <a:t>Question de recherche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51206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Peut-on, à partir d'un corpus d'articles</a:t>
            </a:r>
          </a:p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annoté Gauche · Centre · Droite,</a:t>
            </a:r>
          </a:p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construire un modèle de classification</a:t>
            </a:r>
          </a:p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fiable de l'orientation politique</a:t>
            </a:r>
          </a:p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à partir uniquement du texte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Polarisation médiatique  ·  Projet Data Science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  <a:latin typeface="Calibri"/>
              </a:rPr>
              <a:t>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1295C"/>
                </a:solidFill>
                <a:latin typeface="Calibri"/>
              </a:rPr>
              <a:t>Objectifs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2697480" cy="3291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4A261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1295C"/>
                </a:solidFill>
                <a:latin typeface="Calibri"/>
              </a:rPr>
              <a:t>Constituer un corpus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457200" cy="3657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3 000 articles agrégés depuis 3 sources : RSS, NewsAPI, Kaggle.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697480" cy="3291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1031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4A261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1295C"/>
                </a:solidFill>
                <a:latin typeface="Calibri"/>
              </a:rPr>
              <a:t>Caractériser le biais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3520440"/>
            <a:ext cx="457200" cy="3657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65760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Analyse exploratoire : vocabulaire, sentiment, longueur, sources.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2697480" cy="3291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4A261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1295C"/>
                </a:solidFill>
                <a:latin typeface="Calibri"/>
              </a:rPr>
              <a:t>Modéliser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3520440"/>
            <a:ext cx="457200" cy="3657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65760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Classification supervisée multi-classes (Gauche/Centre/Droite).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828800"/>
            <a:ext cx="2697480" cy="3291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1031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4A261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1295C"/>
                </a:solidFill>
                <a:latin typeface="Calibri"/>
              </a:rPr>
              <a:t>Restituer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3520440"/>
            <a:ext cx="457200" cy="3657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365760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Tableau de bord interactif + rapport reproductible.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Polarisation médiatique  ·  Projet Data Science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  <a:latin typeface="Calibri"/>
              </a:rPr>
              <a:t>MÉTHODOLOGIE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1295C"/>
                </a:solidFill>
                <a:latin typeface="Calibri"/>
              </a:rPr>
              <a:t>Pipeline en 4 étapes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94560"/>
            <a:ext cx="2468880" cy="2377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Étape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Collecte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7472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RSS · NewsAPI · Kaggle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35808" y="3273552"/>
            <a:ext cx="182880" cy="219456"/>
          </a:xfrm>
          <a:prstGeom prst="rightArrow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6120" y="2194560"/>
            <a:ext cx="2468880" cy="23774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Étape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7432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Prétraitement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47472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Nettoyage · NLP · features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33288" y="3273552"/>
            <a:ext cx="182880" cy="219456"/>
          </a:xfrm>
          <a:prstGeom prst="rightArrow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2194560"/>
            <a:ext cx="2468880" cy="23774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Étape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7432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Modélisation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47472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TF-IDF + 5 modèles ML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430768" y="3273552"/>
            <a:ext cx="182880" cy="219456"/>
          </a:xfrm>
          <a:prstGeom prst="rightArrow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41080" y="2194560"/>
            <a:ext cx="2468880" cy="23774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1295C"/>
                </a:solidFill>
                <a:latin typeface="Calibri"/>
              </a:rPr>
              <a:t>Étape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7432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1295C"/>
                </a:solidFill>
                <a:latin typeface="Calibri"/>
              </a:rPr>
              <a:t>Restitution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47472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1295C"/>
                </a:solidFill>
                <a:latin typeface="Calibri"/>
              </a:rPr>
              <a:t>Dashboard HTML + rapport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12064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Toutes les étapes sont versionnées dans 4 notebooks Jupyter — pipeline reproductible de bout en bout.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Polarisation médiatique  ·  Projet Data Science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  <a:latin typeface="Calibri"/>
              </a:rPr>
              <a:t>ÉTAPE 1 — COLLECTE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1295C"/>
                </a:solidFill>
                <a:latin typeface="Calibri"/>
              </a:rPr>
              <a:t>Trois sources complémentaires (3 000 articles)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64592" cy="7772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828800"/>
            <a:ext cx="10927080" cy="777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295C"/>
                </a:solidFill>
                <a:latin typeface="Calibri"/>
              </a:rPr>
              <a:t>Kaggle (news_bias.csv)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Corpus annoté de référence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93392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>
                <a:solidFill>
                  <a:srgbClr val="065A82"/>
                </a:solidFill>
                <a:latin typeface="Calibri"/>
              </a:rPr>
              <a:t>1 500 articles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164592" cy="7772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743200"/>
            <a:ext cx="10927080" cy="777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295C"/>
                </a:solidFill>
                <a:latin typeface="Calibri"/>
              </a:rPr>
              <a:t>Flux RSS (12 médias)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5468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Guardian, BBC, Fox News, Le Monde…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07792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>
                <a:solidFill>
                  <a:srgbClr val="1C7293"/>
                </a:solidFill>
                <a:latin typeface="Calibri"/>
              </a:rPr>
              <a:t>230 articles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57600"/>
            <a:ext cx="164592" cy="7772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57600"/>
            <a:ext cx="10927080" cy="777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490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295C"/>
                </a:solidFill>
                <a:latin typeface="Calibri"/>
              </a:rPr>
              <a:t>NewsAPI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10 événements internationaux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822192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>
                <a:solidFill>
                  <a:srgbClr val="21295C"/>
                </a:solidFill>
                <a:latin typeface="Calibri"/>
              </a:rPr>
              <a:t>97 articles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72000"/>
            <a:ext cx="164592" cy="7772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4572000"/>
            <a:ext cx="10927080" cy="777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634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295C"/>
                </a:solidFill>
                <a:latin typeface="Calibri"/>
              </a:rPr>
              <a:t>Données synthétiques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8348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Équilibrage des classes minoritaires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736592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>
                <a:solidFill>
                  <a:srgbClr val="F4A261"/>
                </a:solidFill>
                <a:latin typeface="Calibri"/>
              </a:rPr>
              <a:t>1 173 articles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43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Diversification des sources pour robustesse : presse réelle (RSS+NewsAPI) + jeu annoté (Kaggle) + équilibrage.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Polarisation médiatique  ·  Projet Data Science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  <a:latin typeface="Calibri"/>
              </a:rPr>
              <a:t>DONNÉES —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1295C"/>
                </a:solidFill>
                <a:latin typeface="Calibri"/>
              </a:rPr>
              <a:t>Équilibre des classes : Gauche · Centre · Droite</a:t>
            </a:r>
          </a:p>
        </p:txBody>
      </p:sp>
      <p:pic>
        <p:nvPicPr>
          <p:cNvPr id="4" name="Picture 3" descr="fi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4206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726679" y="1828800"/>
            <a:ext cx="4023360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26679" y="1828800"/>
            <a:ext cx="91440" cy="1280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0999" y="19933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1295C"/>
                </a:solidFill>
                <a:latin typeface="Calibri"/>
              </a:rPr>
              <a:t>Gauche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999" y="23317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1 236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12679" y="233172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000" b="0">
                <a:solidFill>
                  <a:srgbClr val="4A5568"/>
                </a:solidFill>
                <a:latin typeface="Calibri"/>
              </a:rPr>
              <a:t>41,2 %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3246120"/>
            <a:ext cx="4023360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26679" y="3246120"/>
            <a:ext cx="91440" cy="12801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999" y="341071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1295C"/>
                </a:solidFill>
                <a:latin typeface="Calibri"/>
              </a:rPr>
              <a:t>Centre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999" y="374904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C7293"/>
                </a:solidFill>
                <a:latin typeface="Calibri"/>
              </a:rPr>
              <a:t>951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79" y="37490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000" b="0">
                <a:solidFill>
                  <a:srgbClr val="4A5568"/>
                </a:solidFill>
                <a:latin typeface="Calibri"/>
              </a:rPr>
              <a:t>31,7 %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4663440"/>
            <a:ext cx="4023360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79" y="4663440"/>
            <a:ext cx="91440" cy="128016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0999" y="482803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1295C"/>
                </a:solidFill>
                <a:latin typeface="Calibri"/>
              </a:rPr>
              <a:t>Droite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0999" y="51663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4A261"/>
                </a:solidFill>
                <a:latin typeface="Calibri"/>
              </a:rPr>
              <a:t>813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79" y="516636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000" b="0">
                <a:solidFill>
                  <a:srgbClr val="4A5568"/>
                </a:solidFill>
                <a:latin typeface="Calibri"/>
              </a:rPr>
              <a:t>27,1 %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Polarisation médiatique  ·  Projet Data Science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  <a:latin typeface="Calibri"/>
              </a:rPr>
              <a:t>ÉTAPE 2 — PRÉTRAITEMENT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1295C"/>
                </a:solidFill>
                <a:latin typeface="Calibri"/>
              </a:rPr>
              <a:t>Du texte brut aux variables exploitables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938528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8745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1295C"/>
                </a:solidFill>
                <a:latin typeface="Calibri"/>
              </a:rPr>
              <a:t>Nettoyage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21284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Minuscules · ponctuation · stop-words · lemmatisation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7919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1295C"/>
                </a:solidFill>
                <a:latin typeface="Calibri"/>
              </a:rPr>
              <a:t>Variables texte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0175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Nombre de mots, exclamations, questions, richesse lexicale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47872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48386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1295C"/>
                </a:solidFill>
                <a:latin typeface="Calibri"/>
              </a:rPr>
              <a:t>Sentiment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82219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Polarité (TextBlob) · subjectivité · scores VADER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352544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28853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1295C"/>
                </a:solidFill>
                <a:latin typeface="Calibri"/>
              </a:rPr>
              <a:t>Vocabulaire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62686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Scores Gauche/Centre/Droite · indice de polarisation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157216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09320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1295C"/>
                </a:solidFill>
                <a:latin typeface="Calibri"/>
              </a:rPr>
              <a:t>Vectorisation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43153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TF-IDF (5 000 features, n-grams 1-2)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828800"/>
            <a:ext cx="3611880" cy="41148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011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4A261"/>
                </a:solidFill>
                <a:latin typeface="Calibri"/>
              </a:rPr>
              <a:t>Sortie du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37744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931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variables exploitables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60" y="4434840"/>
            <a:ext cx="548640" cy="36576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457200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par article — texte nettoyé, métriques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linguistiques, sentiment, scores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de vocabulaire politique.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Polarisation médiatique  ·  Projet Data Science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  <a:latin typeface="Calibri"/>
              </a:rPr>
              <a:t>ANALYSE EXPLORATOIRE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1295C"/>
                </a:solidFill>
                <a:latin typeface="Calibri"/>
              </a:rPr>
              <a:t>Vocabulaire dominant par orientation</a:t>
            </a:r>
          </a:p>
        </p:txBody>
      </p:sp>
      <p:pic>
        <p:nvPicPr>
          <p:cNvPr id="4" name="Picture 3" descr="fig_word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863840" cy="457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641080" y="1691640"/>
            <a:ext cx="3108960" cy="4572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41080" y="1691640"/>
            <a:ext cx="73152" cy="457200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828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1295C"/>
                </a:solidFill>
                <a:latin typeface="Calibri"/>
              </a:rPr>
              <a:t>Lecture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331720"/>
            <a:ext cx="274320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F4A261"/>
                </a:solidFill>
                <a:latin typeface="Calibri"/>
              </a:rPr>
              <a:t>▸  </a:t>
            </a:r>
            <a:r>
              <a:rPr sz="1100">
                <a:solidFill>
                  <a:srgbClr val="4A5568"/>
                </a:solidFill>
                <a:latin typeface="Calibri"/>
              </a:rPr>
              <a:t>Vocabulaires nettement distincts entre les 3 orientations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F4A261"/>
                </a:solidFill>
                <a:latin typeface="Calibri"/>
              </a:rPr>
              <a:t>▸  </a:t>
            </a:r>
            <a:r>
              <a:rPr sz="1100">
                <a:solidFill>
                  <a:srgbClr val="4A5568"/>
                </a:solidFill>
                <a:latin typeface="Calibri"/>
              </a:rPr>
              <a:t>Champ lexical idéologique typique pour Gauche / Droite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F4A261"/>
                </a:solidFill>
                <a:latin typeface="Calibri"/>
              </a:rPr>
              <a:t>▸  </a:t>
            </a:r>
            <a:r>
              <a:rPr sz="1100">
                <a:solidFill>
                  <a:srgbClr val="4A5568"/>
                </a:solidFill>
                <a:latin typeface="Calibri"/>
              </a:rPr>
              <a:t>Centre orienté factuel : pays, acteurs, institutions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F4A261"/>
                </a:solidFill>
                <a:latin typeface="Calibri"/>
              </a:rPr>
              <a:t>▸  </a:t>
            </a:r>
            <a:r>
              <a:rPr sz="1100">
                <a:solidFill>
                  <a:srgbClr val="4A5568"/>
                </a:solidFill>
                <a:latin typeface="Calibri"/>
              </a:rPr>
              <a:t>Première validation : signal exploitable par le modèle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Polarisation médiatique  ·  Projet Data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  <a:latin typeface="Calibri"/>
              </a:rPr>
              <a:t>ANALYSE EXPLORATOIRE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1295C"/>
                </a:solidFill>
                <a:latin typeface="Calibri"/>
              </a:rPr>
              <a:t>Évolution temporelle (2020 → 2026)</a:t>
            </a:r>
          </a:p>
        </p:txBody>
      </p:sp>
      <p:pic>
        <p:nvPicPr>
          <p:cNvPr id="4" name="Picture 3" descr="fig_evolution_temporel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680960" cy="457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458200" y="1691640"/>
            <a:ext cx="3291840" cy="4572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58200" y="1691640"/>
            <a:ext cx="73152" cy="4572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8288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1295C"/>
                </a:solidFill>
                <a:latin typeface="Calibri"/>
              </a:rPr>
              <a:t>Constats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331720"/>
            <a:ext cx="292608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F4A261"/>
                </a:solidFill>
                <a:latin typeface="Calibri"/>
              </a:rPr>
              <a:t>▸  </a:t>
            </a:r>
            <a:r>
              <a:rPr sz="1100">
                <a:solidFill>
                  <a:srgbClr val="4A5568"/>
                </a:solidFill>
                <a:latin typeface="Calibri"/>
              </a:rPr>
              <a:t>Couverture continue sur 7 années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F4A261"/>
                </a:solidFill>
                <a:latin typeface="Calibri"/>
              </a:rPr>
              <a:t>▸  </a:t>
            </a:r>
            <a:r>
              <a:rPr sz="1100">
                <a:solidFill>
                  <a:srgbClr val="4A5568"/>
                </a:solidFill>
                <a:latin typeface="Calibri"/>
              </a:rPr>
              <a:t>Pic d'articles autour des élections US et de la guerre en Ukraine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F4A261"/>
                </a:solidFill>
                <a:latin typeface="Calibri"/>
              </a:rPr>
              <a:t>▸  </a:t>
            </a:r>
            <a:r>
              <a:rPr sz="1100">
                <a:solidFill>
                  <a:srgbClr val="4A5568"/>
                </a:solidFill>
                <a:latin typeface="Calibri"/>
              </a:rPr>
              <a:t>Indice de polarisation en hausse depuis 2022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F4A261"/>
                </a:solidFill>
                <a:latin typeface="Calibri"/>
              </a:rPr>
              <a:t>▸  </a:t>
            </a:r>
            <a:r>
              <a:rPr sz="1100">
                <a:solidFill>
                  <a:srgbClr val="4A5568"/>
                </a:solidFill>
                <a:latin typeface="Calibri"/>
              </a:rPr>
              <a:t>Centre légèrement sous-représenté en fin de période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Polarisation médiatique  ·  Projet Data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  <a:latin typeface="Calibri"/>
              </a:rPr>
              <a:t>ANALYSE EXPLORATOIRE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1295C"/>
                </a:solidFill>
                <a:latin typeface="Calibri"/>
              </a:rPr>
              <a:t>Visualisation LSA 2D : les classes sont-elles séparables ?</a:t>
            </a:r>
          </a:p>
        </p:txBody>
      </p:sp>
      <p:pic>
        <p:nvPicPr>
          <p:cNvPr id="4" name="Picture 3" descr="fig_lsa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132320" cy="457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09560" y="1691640"/>
            <a:ext cx="3840480" cy="4572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874519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4A261"/>
                </a:solidFill>
                <a:latin typeface="Calibri"/>
              </a:rPr>
              <a:t>Pourquoi LSA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331720"/>
            <a:ext cx="34747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Latent Semantic Analysis = SVD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appliquée à la matrice TF-IDF.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Projection 2D pour visualiser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la séparabilité des classes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avant modélisation.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45720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  <a:latin typeface="Calibri"/>
              </a:rPr>
              <a:t>Verdict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4983480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Trois nuages partiellement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chevauchants — un classifieur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non-linéaire (XGBoost) est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justifié.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Polarisation médiatique  ·  Projet Data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  <a:latin typeface="Calibri"/>
              </a:rPr>
              <a:t>ÉTAPE 3 — MODÉLISATION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1295C"/>
                </a:solidFill>
                <a:latin typeface="Calibri"/>
              </a:rPr>
              <a:t>Cinq modèles comparés en validation croisée 5-fold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5029200" cy="4206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73152" cy="42062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1295C"/>
                </a:solidFill>
                <a:latin typeface="Calibri"/>
              </a:rPr>
              <a:t>Protocole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457200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▸  </a:t>
            </a:r>
            <a:r>
              <a:rPr sz="1400">
                <a:solidFill>
                  <a:srgbClr val="4A5568"/>
                </a:solidFill>
                <a:latin typeface="Calibri"/>
              </a:rPr>
              <a:t>Split stratifié train/test (80/20)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▸  </a:t>
            </a:r>
            <a:r>
              <a:rPr sz="1400">
                <a:solidFill>
                  <a:srgbClr val="4A5568"/>
                </a:solidFill>
                <a:latin typeface="Calibri"/>
              </a:rPr>
              <a:t>Vectorisation TF-IDF (5 000 features, 1-2 grams)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▸  </a:t>
            </a:r>
            <a:r>
              <a:rPr sz="1400">
                <a:solidFill>
                  <a:srgbClr val="4A5568"/>
                </a:solidFill>
                <a:latin typeface="Calibri"/>
              </a:rPr>
              <a:t>Validation croisée 5-fold sur le train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▸  </a:t>
            </a:r>
            <a:r>
              <a:rPr sz="1400">
                <a:solidFill>
                  <a:srgbClr val="4A5568"/>
                </a:solidFill>
                <a:latin typeface="Calibri"/>
              </a:rPr>
              <a:t>Métrique principale : F1 macro (classes déséquilibrées)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▸  </a:t>
            </a:r>
            <a:r>
              <a:rPr sz="1400">
                <a:solidFill>
                  <a:srgbClr val="4A5568"/>
                </a:solidFill>
                <a:latin typeface="Calibri"/>
              </a:rPr>
              <a:t>Évaluation finale sur le test set tenu à part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828800"/>
            <a:ext cx="5897880" cy="4206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1828800"/>
            <a:ext cx="73152" cy="42062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9659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1295C"/>
                </a:solidFill>
                <a:latin typeface="Calibri"/>
              </a:rPr>
              <a:t>Modèles testés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4688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1295C"/>
                </a:solidFill>
                <a:latin typeface="Calibri"/>
              </a:rPr>
              <a:t>Régression logistique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798064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baseline linéaire interprétable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318211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1295C"/>
                </a:solidFill>
                <a:latin typeface="Calibri"/>
              </a:rPr>
              <a:t>SVM linéaire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511296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marges optimales sur TF-IDF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895344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1295C"/>
                </a:solidFill>
                <a:latin typeface="Calibri"/>
              </a:rPr>
              <a:t>Naïve Bayes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422452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Complement NB (spécialisé texte)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608576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1295C"/>
                </a:solidFill>
                <a:latin typeface="Calibri"/>
              </a:rPr>
              <a:t>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49377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non-linéaire, robuste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532180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1295C"/>
                </a:solidFill>
                <a:latin typeface="Calibri"/>
              </a:rPr>
              <a:t>XGBoost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565099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gradient boosting state-of-the-art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Polarisation médiatique  ·  Projet Data Science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  <a:latin typeface="Calibri"/>
              </a:rPr>
              <a:t>RÉSULTATS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1295C"/>
                </a:solidFill>
                <a:latin typeface="Calibri"/>
              </a:rPr>
              <a:t>Comparaison des modèles : XGBoost en tête</a:t>
            </a:r>
          </a:p>
        </p:txBody>
      </p:sp>
      <p:pic>
        <p:nvPicPr>
          <p:cNvPr id="4" name="Picture 3" descr="fig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772400" cy="457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49640" y="1691640"/>
            <a:ext cx="3200400" cy="4572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1828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4A261"/>
                </a:solidFill>
                <a:latin typeface="Calibri"/>
              </a:rPr>
              <a:t>Classement F1 (CV)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3317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4A261"/>
                </a:solidFill>
                <a:latin typeface="Calibri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XGBoost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233172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Calibri"/>
              </a:rPr>
              <a:t>0,806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9718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4A261"/>
                </a:solidFill>
                <a:latin typeface="Calibri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9718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SVM linéaire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297180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Calibri"/>
              </a:rPr>
              <a:t>0,789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6118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4A261"/>
                </a:solidFill>
                <a:latin typeface="Calibri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6118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Régression log.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361188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Calibri"/>
              </a:rPr>
              <a:t>0,785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42519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4A261"/>
                </a:solidFill>
                <a:latin typeface="Calibri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251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425196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Calibri"/>
              </a:rPr>
              <a:t>0,776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8920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4A261"/>
                </a:solidFill>
                <a:latin typeface="Calibri"/>
              </a:rPr>
              <a:t>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8920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Naïve Bayes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489204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Calibri"/>
              </a:rPr>
              <a:t>0,764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Polarisation médiatique  ·  Projet Data Science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  <a:latin typeface="Calibri"/>
              </a:rPr>
              <a:t>RÉSULTATS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1295C"/>
                </a:solidFill>
                <a:latin typeface="Calibri"/>
              </a:rPr>
              <a:t>Matrices de confusion : où le modèle se trompe ?</a:t>
            </a:r>
          </a:p>
        </p:txBody>
      </p:sp>
      <p:pic>
        <p:nvPicPr>
          <p:cNvPr id="4" name="Picture 3" descr="fig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8686800" cy="4389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464040" y="1737360"/>
            <a:ext cx="2331720" cy="4389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64040" y="1737360"/>
            <a:ext cx="73152" cy="43891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187451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1295C"/>
                </a:solidFill>
                <a:latin typeface="Calibri"/>
              </a:rPr>
              <a:t>Lecture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2286000"/>
            <a:ext cx="201168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1C7293"/>
                </a:solidFill>
                <a:latin typeface="Calibri"/>
              </a:rPr>
              <a:t>▸  </a:t>
            </a:r>
            <a:r>
              <a:rPr sz="1000">
                <a:solidFill>
                  <a:srgbClr val="4A5568"/>
                </a:solidFill>
                <a:latin typeface="Calibri"/>
              </a:rPr>
              <a:t>Diagonale dominante = classes bien identifiées</a:t>
            </a: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1C7293"/>
                </a:solidFill>
                <a:latin typeface="Calibri"/>
              </a:rPr>
              <a:t>▸  </a:t>
            </a:r>
            <a:r>
              <a:rPr sz="1000">
                <a:solidFill>
                  <a:srgbClr val="4A5568"/>
                </a:solidFill>
                <a:latin typeface="Calibri"/>
              </a:rPr>
              <a:t>Confusion principale entre Centre ↔ Gauche</a:t>
            </a: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1C7293"/>
                </a:solidFill>
                <a:latin typeface="Calibri"/>
              </a:rPr>
              <a:t>▸  </a:t>
            </a:r>
            <a:r>
              <a:rPr sz="1000">
                <a:solidFill>
                  <a:srgbClr val="4A5568"/>
                </a:solidFill>
                <a:latin typeface="Calibri"/>
              </a:rPr>
              <a:t>Droite = classe la mieux reconnue</a:t>
            </a: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1C7293"/>
                </a:solidFill>
                <a:latin typeface="Calibri"/>
              </a:rPr>
              <a:t>▸  </a:t>
            </a:r>
            <a:r>
              <a:rPr sz="1000">
                <a:solidFill>
                  <a:srgbClr val="4A5568"/>
                </a:solidFill>
                <a:latin typeface="Calibri"/>
              </a:rPr>
              <a:t>Précision XGBoost : 83 %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Polarisation médiatique  ·  Projet Data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  <a:latin typeface="Calibri"/>
              </a:rPr>
              <a:t>INTERPRÉTATION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1295C"/>
                </a:solidFill>
                <a:latin typeface="Calibri"/>
              </a:rPr>
              <a:t>Variables les plus discriminantes (XGBoost)</a:t>
            </a:r>
          </a:p>
        </p:txBody>
      </p:sp>
      <p:pic>
        <p:nvPicPr>
          <p:cNvPr id="4" name="Picture 3" descr="fig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7680960" cy="457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458200" y="1737360"/>
            <a:ext cx="3291840" cy="4572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58200" y="1737360"/>
            <a:ext cx="73152" cy="457200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874519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1295C"/>
                </a:solidFill>
                <a:latin typeface="Calibri"/>
              </a:rPr>
              <a:t>Lecture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286000"/>
            <a:ext cx="292608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F4A261"/>
                </a:solidFill>
                <a:latin typeface="Calibri"/>
              </a:rPr>
              <a:t>▸  </a:t>
            </a:r>
            <a:r>
              <a:rPr sz="1100">
                <a:solidFill>
                  <a:srgbClr val="4A5568"/>
                </a:solidFill>
                <a:latin typeface="Calibri"/>
              </a:rPr>
              <a:t>Scores de vocabulaire politique = leviers principaux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F4A261"/>
                </a:solidFill>
                <a:latin typeface="Calibri"/>
              </a:rPr>
              <a:t>▸  </a:t>
            </a:r>
            <a:r>
              <a:rPr sz="1100">
                <a:solidFill>
                  <a:srgbClr val="4A5568"/>
                </a:solidFill>
                <a:latin typeface="Calibri"/>
              </a:rPr>
              <a:t>Indice de polarisation très informatif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F4A261"/>
                </a:solidFill>
                <a:latin typeface="Calibri"/>
              </a:rPr>
              <a:t>▸  </a:t>
            </a:r>
            <a:r>
              <a:rPr sz="1100">
                <a:solidFill>
                  <a:srgbClr val="4A5568"/>
                </a:solidFill>
                <a:latin typeface="Calibri"/>
              </a:rPr>
              <a:t>Sentiment et richesse lexicale en complément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F4A261"/>
                </a:solidFill>
                <a:latin typeface="Calibri"/>
              </a:rPr>
              <a:t>▸  </a:t>
            </a:r>
            <a:r>
              <a:rPr sz="1100">
                <a:solidFill>
                  <a:srgbClr val="4A5568"/>
                </a:solidFill>
                <a:latin typeface="Calibri"/>
              </a:rPr>
              <a:t>Confirme que le signal est bien linguistique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Polarisation médiatique  ·  Projet Data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0" cy="54864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Un pipeline complet, des résultats solides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3611880" cy="1828800"/>
          </a:xfrm>
          <a:prstGeom prst="rect">
            <a:avLst/>
          </a:prstGeom>
          <a:solidFill>
            <a:srgbClr val="2C3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4A261"/>
                </a:solidFill>
                <a:latin typeface="Calibri"/>
              </a:rPr>
              <a:t>79,7 %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Accuracy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XGBoost — meilleur modèle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377440"/>
            <a:ext cx="3611880" cy="1828800"/>
          </a:xfrm>
          <a:prstGeom prst="rect">
            <a:avLst/>
          </a:prstGeom>
          <a:solidFill>
            <a:srgbClr val="2C3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560320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4A261"/>
                </a:solidFill>
                <a:latin typeface="Calibri"/>
              </a:rPr>
              <a:t>0,793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38328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F1 macro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7490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Performance équilibrée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377440"/>
            <a:ext cx="3611880" cy="1828800"/>
          </a:xfrm>
          <a:prstGeom prst="rect">
            <a:avLst/>
          </a:prstGeom>
          <a:solidFill>
            <a:srgbClr val="2C3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560320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4A261"/>
                </a:solidFill>
                <a:latin typeface="Calibri"/>
              </a:rPr>
              <a:t>3 000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38328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Articles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7490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Corpus multi-sources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A261"/>
                </a:solidFill>
                <a:latin typeface="Calibri"/>
              </a:rPr>
              <a:t>PERSPECTIVES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37760"/>
            <a:ext cx="1097280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▸  </a:t>
            </a:r>
            <a:r>
              <a:rPr sz="1400">
                <a:solidFill>
                  <a:srgbClr val="E2E8F0"/>
                </a:solidFill>
                <a:latin typeface="Calibri"/>
              </a:rPr>
              <a:t>Tester des modèles transformer (BERT, CamemBERT) pour capter la sémantique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▸  </a:t>
            </a:r>
            <a:r>
              <a:rPr sz="1400">
                <a:solidFill>
                  <a:srgbClr val="E2E8F0"/>
                </a:solidFill>
                <a:latin typeface="Calibri"/>
              </a:rPr>
              <a:t>Étendre le corpus à d'autres langues et événements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▸  </a:t>
            </a:r>
            <a:r>
              <a:rPr sz="1400">
                <a:solidFill>
                  <a:srgbClr val="E2E8F0"/>
                </a:solidFill>
                <a:latin typeface="Calibri"/>
              </a:rPr>
              <a:t>Déployer le modèle en API + dashboard temps réel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4A261"/>
                </a:solidFill>
                <a:latin typeface="Calibri"/>
              </a:rPr>
              <a:t>Merci de votre attention —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